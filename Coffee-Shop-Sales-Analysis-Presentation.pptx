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slideLayout" Target="../slideLayouts/slideLayout10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Coffee Shop Sales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Data-driven insights from 149K+ transactions across multi-location chain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842135"/>
            <a:ext cx="1281827" cy="426244"/>
          </a:xfrm>
          <a:prstGeom prst="roundRect">
            <a:avLst>
              <a:gd name="adj" fmla="val 6386"/>
            </a:avLst>
          </a:prstGeom>
          <a:solidFill>
            <a:srgbClr val="372015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910120"/>
            <a:ext cx="100965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OVERVIEW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359104"/>
            <a:ext cx="574071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Executive Summary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352139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₹58.9M</a:t>
            </a:r>
            <a:endParaRPr lang="en-US" sz="5850" dirty="0"/>
          </a:p>
        </p:txBody>
      </p:sp>
      <p:sp>
        <p:nvSpPr>
          <p:cNvPr id="6" name="Text 4"/>
          <p:cNvSpPr/>
          <p:nvPr/>
        </p:nvSpPr>
        <p:spPr>
          <a:xfrm>
            <a:off x="1455420" y="45531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Total Revenue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5043607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Across all locations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235893" y="352139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149K</a:t>
            </a:r>
            <a:endParaRPr lang="en-US" sz="5850" dirty="0"/>
          </a:p>
        </p:txBody>
      </p:sp>
      <p:sp>
        <p:nvSpPr>
          <p:cNvPr id="9" name="Text 7"/>
          <p:cNvSpPr/>
          <p:nvPr/>
        </p:nvSpPr>
        <p:spPr>
          <a:xfrm>
            <a:off x="5897523" y="45531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Transactions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35893" y="5043607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High-volume retail model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77995" y="352139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₹395</a:t>
            </a:r>
            <a:endParaRPr lang="en-US" sz="5850" dirty="0"/>
          </a:p>
        </p:txBody>
      </p:sp>
      <p:sp>
        <p:nvSpPr>
          <p:cNvPr id="12" name="Text 10"/>
          <p:cNvSpPr/>
          <p:nvPr/>
        </p:nvSpPr>
        <p:spPr>
          <a:xfrm>
            <a:off x="10339626" y="45531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Avg Transaction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677995" y="5043607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Mid-ticket purchases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93790" y="566166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Airport and high-footfall urban locations drive majority of revenue. Beverage products dominate sales with strong opportunities for optimization.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7166" y="901065"/>
            <a:ext cx="4481751" cy="559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Business Objectives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7166" y="2301954"/>
            <a:ext cx="7878485" cy="43972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459992" y="1831658"/>
            <a:ext cx="179070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3C9C5"/>
                </a:solidFill>
                <a:latin typeface="Noto Serif HK Light" pitchFamily="34" charset="0"/>
                <a:ea typeface="Noto Serif HK Light" pitchFamily="34" charset="-122"/>
                <a:cs typeface="Noto Serif HK Light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9459992" y="2113121"/>
            <a:ext cx="4040743" cy="2286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6" name="Text 3"/>
          <p:cNvSpPr/>
          <p:nvPr/>
        </p:nvSpPr>
        <p:spPr>
          <a:xfrm>
            <a:off x="9459992" y="2248376"/>
            <a:ext cx="3108127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Performance Measurement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9459992" y="2669500"/>
            <a:ext cx="4040743" cy="256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Track sales and transaction metrics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459992" y="3201472"/>
            <a:ext cx="179070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3C9C5"/>
                </a:solidFill>
                <a:latin typeface="Noto Serif HK Light" pitchFamily="34" charset="0"/>
                <a:ea typeface="Noto Serif HK Light" pitchFamily="34" charset="-122"/>
                <a:cs typeface="Noto Serif HK Light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9459992" y="3482935"/>
            <a:ext cx="4040743" cy="2286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10" name="Text 7"/>
          <p:cNvSpPr/>
          <p:nvPr/>
        </p:nvSpPr>
        <p:spPr>
          <a:xfrm>
            <a:off x="9459992" y="3618190"/>
            <a:ext cx="2238375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Product Analysis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9459992" y="4039314"/>
            <a:ext cx="4040743" cy="256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Identify top performers and categories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459992" y="4571286"/>
            <a:ext cx="179070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3C9C5"/>
                </a:solidFill>
                <a:latin typeface="Noto Serif HK Light" pitchFamily="34" charset="0"/>
                <a:ea typeface="Noto Serif HK Light" pitchFamily="34" charset="-122"/>
                <a:cs typeface="Noto Serif HK Light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9459992" y="4852749"/>
            <a:ext cx="4040743" cy="2286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14" name="Text 11"/>
          <p:cNvSpPr/>
          <p:nvPr/>
        </p:nvSpPr>
        <p:spPr>
          <a:xfrm>
            <a:off x="9459992" y="4988004"/>
            <a:ext cx="2447806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Location Comparison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9459992" y="5409128"/>
            <a:ext cx="4040743" cy="256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Evaluate store-level performance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459992" y="5941100"/>
            <a:ext cx="179070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3C9C5"/>
                </a:solidFill>
                <a:latin typeface="Noto Serif HK Light" pitchFamily="34" charset="0"/>
                <a:ea typeface="Noto Serif HK Light" pitchFamily="34" charset="-122"/>
                <a:cs typeface="Noto Serif HK Light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9459992" y="6222563"/>
            <a:ext cx="4040743" cy="2286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18" name="Text 15"/>
          <p:cNvSpPr/>
          <p:nvPr/>
        </p:nvSpPr>
        <p:spPr>
          <a:xfrm>
            <a:off x="9459992" y="6357818"/>
            <a:ext cx="2238375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Strategic Planning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9459992" y="6778943"/>
            <a:ext cx="4040743" cy="256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Enable data-driven growth decisions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7337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Data Foundation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577471"/>
            <a:ext cx="3008948" cy="2123480"/>
          </a:xfrm>
          <a:prstGeom prst="roundRect">
            <a:avLst>
              <a:gd name="adj" fmla="val 1602"/>
            </a:avLst>
          </a:prstGeom>
          <a:solidFill>
            <a:srgbClr val="5F5153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3804285"/>
            <a:ext cx="25553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Orders Table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4385429"/>
            <a:ext cx="25553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Transaction date, time, store, product, quantity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4029551" y="3577471"/>
            <a:ext cx="3008948" cy="2123480"/>
          </a:xfrm>
          <a:prstGeom prst="roundRect">
            <a:avLst>
              <a:gd name="adj" fmla="val 1602"/>
            </a:avLst>
          </a:prstGeom>
          <a:solidFill>
            <a:srgbClr val="5F5153"/>
          </a:solidFill>
          <a:ln/>
        </p:spPr>
      </p:sp>
      <p:sp>
        <p:nvSpPr>
          <p:cNvPr id="7" name="Text 5"/>
          <p:cNvSpPr/>
          <p:nvPr/>
        </p:nvSpPr>
        <p:spPr>
          <a:xfrm>
            <a:off x="4256365" y="3804285"/>
            <a:ext cx="25553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Products Table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256365" y="4385429"/>
            <a:ext cx="25553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Category, type, details, unit price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36168" y="3322320"/>
            <a:ext cx="6571417" cy="2633782"/>
          </a:xfrm>
          <a:prstGeom prst="roundRect">
            <a:avLst>
              <a:gd name="adj" fmla="val 1292"/>
            </a:avLst>
          </a:prstGeom>
          <a:solidFill>
            <a:srgbClr val="E2C2B3"/>
          </a:solidFill>
          <a:ln/>
        </p:spPr>
      </p:sp>
      <p:sp>
        <p:nvSpPr>
          <p:cNvPr id="10" name="Text 8"/>
          <p:cNvSpPr/>
          <p:nvPr/>
        </p:nvSpPr>
        <p:spPr>
          <a:xfrm>
            <a:off x="7662982" y="35491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Key Metrics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662982" y="4130278"/>
            <a:ext cx="6117788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Total Sales Amount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Total Orders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Sales by Product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Sales by Store Location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7467" y="790813"/>
            <a:ext cx="5194935" cy="613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Top-Selling Products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687467" y="1744980"/>
            <a:ext cx="13255466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Large-size beverages and premium drinks dominate revenue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7467" y="2229564"/>
            <a:ext cx="441960" cy="441960"/>
          </a:xfrm>
          <a:prstGeom prst="roundRect">
            <a:avLst>
              <a:gd name="adj" fmla="val 6667"/>
            </a:avLst>
          </a:prstGeom>
          <a:solidFill>
            <a:srgbClr val="5F5153"/>
          </a:solidFill>
          <a:ln/>
        </p:spPr>
      </p:sp>
      <p:sp>
        <p:nvSpPr>
          <p:cNvPr id="5" name="Text 3"/>
          <p:cNvSpPr/>
          <p:nvPr/>
        </p:nvSpPr>
        <p:spPr>
          <a:xfrm>
            <a:off x="761167" y="2266414"/>
            <a:ext cx="294561" cy="368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1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299567" y="2297073"/>
            <a:ext cx="4367808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Sustainably Grown Organic (Large)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299567" y="2705933"/>
            <a:ext cx="12643366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₹1.78M revenue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7467" y="3339465"/>
            <a:ext cx="441960" cy="441960"/>
          </a:xfrm>
          <a:prstGeom prst="roundRect">
            <a:avLst>
              <a:gd name="adj" fmla="val 6667"/>
            </a:avLst>
          </a:prstGeom>
          <a:solidFill>
            <a:srgbClr val="5F5153"/>
          </a:solidFill>
          <a:ln/>
        </p:spPr>
      </p:sp>
      <p:sp>
        <p:nvSpPr>
          <p:cNvPr id="9" name="Text 7"/>
          <p:cNvSpPr/>
          <p:nvPr/>
        </p:nvSpPr>
        <p:spPr>
          <a:xfrm>
            <a:off x="761167" y="3376315"/>
            <a:ext cx="294561" cy="368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2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299567" y="3406973"/>
            <a:ext cx="2879408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Dark Chocolate (Large)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299567" y="3815834"/>
            <a:ext cx="12643366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₹1.76M revenue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7467" y="4449366"/>
            <a:ext cx="441960" cy="441960"/>
          </a:xfrm>
          <a:prstGeom prst="roundRect">
            <a:avLst>
              <a:gd name="adj" fmla="val 6667"/>
            </a:avLst>
          </a:prstGeom>
          <a:solidFill>
            <a:srgbClr val="5F5153"/>
          </a:solidFill>
          <a:ln/>
        </p:spPr>
      </p:sp>
      <p:sp>
        <p:nvSpPr>
          <p:cNvPr id="13" name="Text 11"/>
          <p:cNvSpPr/>
          <p:nvPr/>
        </p:nvSpPr>
        <p:spPr>
          <a:xfrm>
            <a:off x="761167" y="4486215"/>
            <a:ext cx="294561" cy="368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3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299567" y="4516874"/>
            <a:ext cx="2455545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Latte (Regular)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299567" y="4925735"/>
            <a:ext cx="12643366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₹1.61M revenue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7467" y="5559266"/>
            <a:ext cx="441960" cy="441960"/>
          </a:xfrm>
          <a:prstGeom prst="roundRect">
            <a:avLst>
              <a:gd name="adj" fmla="val 6667"/>
            </a:avLst>
          </a:prstGeom>
          <a:solidFill>
            <a:srgbClr val="5F5153"/>
          </a:solidFill>
          <a:ln/>
        </p:spPr>
      </p:sp>
      <p:sp>
        <p:nvSpPr>
          <p:cNvPr id="17" name="Text 15"/>
          <p:cNvSpPr/>
          <p:nvPr/>
        </p:nvSpPr>
        <p:spPr>
          <a:xfrm>
            <a:off x="761167" y="5596116"/>
            <a:ext cx="294561" cy="368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4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1299567" y="5626775"/>
            <a:ext cx="2455545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Cappuccino (Large)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299567" y="6035635"/>
            <a:ext cx="12643366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₹1.48M revenue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87467" y="6669167"/>
            <a:ext cx="441960" cy="441960"/>
          </a:xfrm>
          <a:prstGeom prst="roundRect">
            <a:avLst>
              <a:gd name="adj" fmla="val 6667"/>
            </a:avLst>
          </a:prstGeom>
          <a:solidFill>
            <a:srgbClr val="5F5153"/>
          </a:solidFill>
          <a:ln/>
        </p:spPr>
      </p:sp>
      <p:sp>
        <p:nvSpPr>
          <p:cNvPr id="21" name="Text 19"/>
          <p:cNvSpPr/>
          <p:nvPr/>
        </p:nvSpPr>
        <p:spPr>
          <a:xfrm>
            <a:off x="761167" y="6706017"/>
            <a:ext cx="294561" cy="368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5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1299567" y="6736675"/>
            <a:ext cx="3679269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Morning Sunrise Chai (Large)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299567" y="7145536"/>
            <a:ext cx="12643366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₹1.46M revenue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2587" y="577334"/>
            <a:ext cx="7580590" cy="618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Product Performance Insights</a:t>
            </a:r>
            <a:endParaRPr lang="en-US" sz="3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556" y="1648777"/>
            <a:ext cx="6258520" cy="53574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91759" y="3254812"/>
            <a:ext cx="2413558" cy="301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Large Sizes Win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5568835" y="2921608"/>
            <a:ext cx="2102477" cy="603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Coffee Outperforms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4528323" y="5431708"/>
            <a:ext cx="1823577" cy="603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Premium Demand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92587" y="7200424"/>
            <a:ext cx="8440460" cy="296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Customer preferences reveal clear patterns favoring premium, large-format beverages.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9623346" y="2551152"/>
            <a:ext cx="4322088" cy="1219676"/>
          </a:xfrm>
          <a:prstGeom prst="roundRect">
            <a:avLst>
              <a:gd name="adj" fmla="val 2434"/>
            </a:avLst>
          </a:prstGeom>
          <a:solidFill>
            <a:srgbClr val="403234"/>
          </a:solidFill>
          <a:ln w="22860">
            <a:solidFill>
              <a:srgbClr val="786A6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844088" y="2771894"/>
            <a:ext cx="2473643" cy="309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Size Matters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9844088" y="3253740"/>
            <a:ext cx="3880604" cy="296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Large beverages drive revenue growth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9623346" y="3943469"/>
            <a:ext cx="4322088" cy="1219676"/>
          </a:xfrm>
          <a:prstGeom prst="roundRect">
            <a:avLst>
              <a:gd name="adj" fmla="val 2434"/>
            </a:avLst>
          </a:prstGeom>
          <a:solidFill>
            <a:srgbClr val="403234"/>
          </a:solidFill>
          <a:ln w="22860">
            <a:solidFill>
              <a:srgbClr val="786A6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44088" y="4164211"/>
            <a:ext cx="2473643" cy="309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Coffee Dominance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9844088" y="4646057"/>
            <a:ext cx="3880604" cy="296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Coffee-based drinks lead sales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9623346" y="5335786"/>
            <a:ext cx="4322088" cy="1219676"/>
          </a:xfrm>
          <a:prstGeom prst="roundRect">
            <a:avLst>
              <a:gd name="adj" fmla="val 2434"/>
            </a:avLst>
          </a:prstGeom>
          <a:solidFill>
            <a:srgbClr val="403234"/>
          </a:solidFill>
          <a:ln w="22860">
            <a:solidFill>
              <a:srgbClr val="786A6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44088" y="5556528"/>
            <a:ext cx="2473643" cy="309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Premium Appeal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9844088" y="6038374"/>
            <a:ext cx="3880604" cy="296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Specialty drinks show strong demand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15603"/>
            <a:ext cx="808232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Store Location Performance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319695"/>
            <a:ext cx="8284131" cy="4639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943" y="266878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Location Insights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9638943" y="3320891"/>
            <a:ext cx="420516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Airport stores generate highest sales driven by foot traffic and premium pricing tolerance.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638943" y="4613672"/>
            <a:ext cx="420516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Urban high-density locations show nearly equal contribution with balanced revenue distribution.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9638943" y="5906453"/>
            <a:ext cx="420516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Optimization potential exists for each location type.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2955" y="615196"/>
            <a:ext cx="2189083" cy="418386"/>
          </a:xfrm>
          <a:prstGeom prst="roundRect">
            <a:avLst>
              <a:gd name="adj" fmla="val 6417"/>
            </a:avLst>
          </a:prstGeom>
          <a:solidFill>
            <a:srgbClr val="372015"/>
          </a:solidFill>
          <a:ln/>
        </p:spPr>
      </p:sp>
      <p:sp>
        <p:nvSpPr>
          <p:cNvPr id="3" name="Text 1"/>
          <p:cNvSpPr/>
          <p:nvPr/>
        </p:nvSpPr>
        <p:spPr>
          <a:xfrm>
            <a:off x="917138" y="682228"/>
            <a:ext cx="1920716" cy="284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RECOMMENDATIONS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82955" y="1121807"/>
            <a:ext cx="5942290" cy="699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Strategic Action Plan</a:t>
            </a:r>
            <a:endParaRPr lang="en-US" sz="4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955" y="2151698"/>
            <a:ext cx="2419112" cy="24191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82955" y="4846558"/>
            <a:ext cx="2796421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Product Strategy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82955" y="5328404"/>
            <a:ext cx="4170998" cy="1931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Promote large-size premium beverages</a:t>
            </a:r>
            <a:endParaRPr lang="en-US" sz="1750" dirty="0"/>
          </a:p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Bundle top drinks with snacks</a:t>
            </a:r>
            <a:endParaRPr lang="en-US" sz="1750" dirty="0"/>
          </a:p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Simplify inventory, reduce low performers</a:t>
            </a:r>
            <a:endParaRPr lang="en-US" sz="1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9701" y="2151698"/>
            <a:ext cx="2419112" cy="24191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29701" y="4846558"/>
            <a:ext cx="2796421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Store Optimization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29701" y="5328404"/>
            <a:ext cx="4170998" cy="2286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Location-specific pricing at airports</a:t>
            </a:r>
            <a:endParaRPr lang="en-US" sz="1750" dirty="0"/>
          </a:p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Expand seating at high-traffic stores</a:t>
            </a:r>
            <a:endParaRPr lang="en-US" sz="1750" dirty="0"/>
          </a:p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Use airport trends for new locations</a:t>
            </a:r>
            <a:endParaRPr lang="en-US" sz="17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6448" y="2151698"/>
            <a:ext cx="2419112" cy="241911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76448" y="4846558"/>
            <a:ext cx="2796421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Marketing Focus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9676448" y="5328404"/>
            <a:ext cx="4170998" cy="1931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Loyalty programs for frequent buyers</a:t>
            </a:r>
            <a:endParaRPr lang="en-US" sz="1750" dirty="0"/>
          </a:p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Time-based offers (morning, evening)</a:t>
            </a:r>
            <a:endParaRPr lang="en-US" sz="1750" dirty="0"/>
          </a:p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Highlight sustainable products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9616"/>
            <a:ext cx="60774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Tools &amp; Methodology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327315"/>
            <a:ext cx="8284131" cy="4623673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38943" y="2043708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489406" y="20437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Power BI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10489406" y="2624852"/>
            <a:ext cx="335470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Data modeling, DAX measures, interactive dashboards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38943" y="4167188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489406" y="4167188"/>
            <a:ext cx="30159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Data Transformation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10489406" y="4748332"/>
            <a:ext cx="33547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Date handling, joins, calculated fields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38943" y="5927765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489406" y="59277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KPI Tracking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0489406" y="6508909"/>
            <a:ext cx="33547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Revenue, quantity sold, product and store ranking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68248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8F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Key Takeaways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4731425"/>
            <a:ext cx="4196358" cy="1669852"/>
          </a:xfrm>
          <a:prstGeom prst="roundRect">
            <a:avLst>
              <a:gd name="adj" fmla="val 2038"/>
            </a:avLst>
          </a:prstGeom>
          <a:solidFill>
            <a:srgbClr val="5F5153"/>
          </a:solidFill>
          <a:ln/>
        </p:spPr>
      </p:sp>
      <p:sp>
        <p:nvSpPr>
          <p:cNvPr id="5" name="Text 2"/>
          <p:cNvSpPr/>
          <p:nvPr/>
        </p:nvSpPr>
        <p:spPr>
          <a:xfrm>
            <a:off x="1020604" y="4958239"/>
            <a:ext cx="308026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High-Volume Success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5448657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₹58.9M revenue demonstrates strong market position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16962" y="4731425"/>
            <a:ext cx="4196358" cy="1669852"/>
          </a:xfrm>
          <a:prstGeom prst="roundRect">
            <a:avLst>
              <a:gd name="adj" fmla="val 2038"/>
            </a:avLst>
          </a:prstGeom>
          <a:solidFill>
            <a:srgbClr val="5F5153"/>
          </a:solidFill>
          <a:ln/>
        </p:spPr>
      </p:sp>
      <p:sp>
        <p:nvSpPr>
          <p:cNvPr id="8" name="Text 5"/>
          <p:cNvSpPr/>
          <p:nvPr/>
        </p:nvSpPr>
        <p:spPr>
          <a:xfrm>
            <a:off x="5443776" y="49582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Clear Winners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43776" y="5448657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Large beverages and premium drinks drive profitability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9640133" y="4731425"/>
            <a:ext cx="4196358" cy="1669852"/>
          </a:xfrm>
          <a:prstGeom prst="roundRect">
            <a:avLst>
              <a:gd name="adj" fmla="val 2038"/>
            </a:avLst>
          </a:prstGeom>
          <a:solidFill>
            <a:srgbClr val="5F5153"/>
          </a:solidFill>
          <a:ln/>
        </p:spPr>
      </p:sp>
      <p:sp>
        <p:nvSpPr>
          <p:cNvPr id="11" name="Text 8"/>
          <p:cNvSpPr/>
          <p:nvPr/>
        </p:nvSpPr>
        <p:spPr>
          <a:xfrm>
            <a:off x="9866948" y="49582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3C9C5"/>
                </a:solidFill>
                <a:latin typeface="Noto Serif HK Bold" pitchFamily="34" charset="0"/>
                <a:ea typeface="Noto Serif HK Bold" pitchFamily="34" charset="-122"/>
                <a:cs typeface="Noto Serif HK Bold" pitchFamily="34" charset="-120"/>
              </a:rPr>
              <a:t>Location Strategy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866948" y="5448657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Airport and urban stores offer optimization opportunities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93790" y="6656427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9C5"/>
                </a:solidFill>
                <a:latin typeface="Noto Serif HK" pitchFamily="34" charset="0"/>
                <a:ea typeface="Noto Serif HK" pitchFamily="34" charset="-122"/>
                <a:cs typeface="Noto Serif HK" pitchFamily="34" charset="-120"/>
              </a:rPr>
              <a:t>Transactional data reveals actionable insights for revenue growth, customer experience improvement, and effective scaling.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2026-02-17T05:02:01Z</dcterms:created>
  <dcterms:modified xsi:type="dcterms:W3CDTF">2026-02-17T05:02:01Z</dcterms:modified>
</cp:coreProperties>
</file>